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CAPSTONE PROJECT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Semester  |  2023–2027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200400" cy="0"/>
          </a:xfrm>
          <a:prstGeom prst="line">
            <a:avLst/>
          </a:prstGeom>
          <a:noFill/>
          <a:ln w="9525">
            <a:solidFill>
              <a:srgbClr val="2D52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Process Risk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35661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Potato Chip Manufacturing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CNN and Random Forest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4206240"/>
            <a:ext cx="3200400" cy="0"/>
          </a:xfrm>
          <a:prstGeom prst="line">
            <a:avLst/>
          </a:prstGeom>
          <a:noFill/>
          <a:ln w="9525">
            <a:solidFill>
              <a:srgbClr val="2D52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2976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450799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Sankar K  |  Dept. of CSE (AI/ML)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47183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(Deemed-to-be University), Bengaluru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0" y="4572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Highlights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0" y="960120"/>
            <a:ext cx="46634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96012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05156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343400" y="15087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Test Accuracy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17647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2286000"/>
            <a:ext cx="4663440" cy="11430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286000"/>
            <a:ext cx="73152" cy="1143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37744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0.912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343400" y="28346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R²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309067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Risk Prediction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3611880"/>
            <a:ext cx="4663440" cy="11430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3611880"/>
            <a:ext cx="73152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370332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₹45.27L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343400" y="41605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Savings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43400" y="441655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plant COPQ reduction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0" y="4773168"/>
            <a:ext cx="4663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482803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Mehta · Priyanshu Soni · Karthik Khandka · Yuvraj Joshi · Shreyas Singh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Quality Control Fails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402336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1508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Fatigue &amp; Inconsistency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 miss 15–20% of defects at high throughput. Inspector-to-inspector variability means results are never standardized.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02336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325880"/>
            <a:ext cx="64008" cy="1508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Capability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is entirely reactive — there is no mechanism to anticipate defects from fryer process conditions before they occur.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6400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54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from Root Cause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defects are not linked to upstream fryer parameters, making root cause analysis slow and remediation guesswork.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402336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017520"/>
            <a:ext cx="64008" cy="1508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154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 Blindspot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83480" y="34747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manufacturers have no standardized KPI benchmarking across facilities, preventing best practices from being identified.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Modular System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16276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Pandas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38988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images (camera feed)  +  Fryer sensor data (process parameters)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29968"/>
            <a:ext cx="6400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67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1214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Layer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23774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ImageDataGenerator · NumPy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213969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 · Normalize · Augment images  |  StandardScaler for features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779776"/>
            <a:ext cx="822960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79776"/>
            <a:ext cx="640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16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871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31272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 · scikit-learn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288950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(MobileNetV2) → Defect Classification  |  Random Forest → Defect % Prediction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52958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529584"/>
            <a:ext cx="64008" cy="6217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6667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6210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05840" y="387705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· SciPy · Pandas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363931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 ·  ANOVA + Pearson Correlation  ·  Cost Impact 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79392"/>
            <a:ext cx="822960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279392"/>
            <a:ext cx="64008" cy="6217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416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3708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" y="46268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Plotly · Matplotlib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438912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Defect Detection Tab  |  Risk Predictor Tab  |  Benchmarking Tab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CNN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 — Defect Detection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261872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19072" y="1655064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280160"/>
            <a:ext cx="1261872" cy="74980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28016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82112" y="1655064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280160"/>
            <a:ext cx="1261872" cy="74980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8016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Pool2D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45152" y="1655064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280160"/>
            <a:ext cx="1261872" cy="74980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8016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128+ReLU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08192" y="1655064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280160"/>
            <a:ext cx="1261872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28016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71232" y="1655064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1280160"/>
            <a:ext cx="1261872" cy="74980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1280160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1945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Training Protocol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402336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560320"/>
            <a:ext cx="64008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26334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Feature Extraction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8368" y="29077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entire MobileNetV2 base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classification head only  |  LR = 1×10⁻³  |  10 epochs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560320"/>
            <a:ext cx="402336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560320"/>
            <a:ext cx="64008" cy="9144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26334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Fine-Tuning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01768" y="29077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top 30 MobileNetV2 layers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training  |  LR = 1×10⁻⁵  |  10 epochs + ReduceLROnPlateau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3611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Performance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950208"/>
            <a:ext cx="196596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959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93.87%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57200" y="44531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06040" y="3950208"/>
            <a:ext cx="196596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39959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2606040" y="44531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950208"/>
            <a:ext cx="196596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9959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4754880" y="44531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03720" y="3950208"/>
            <a:ext cx="196596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39959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ms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903720" y="44531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RF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Regression — Process Risk Predictor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(MDI)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Fryer Temperature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691640"/>
            <a:ext cx="1828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691640"/>
            <a:ext cx="1563624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6459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Quality Index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2258568"/>
            <a:ext cx="1828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2258568"/>
            <a:ext cx="1284732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22128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7977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Content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2825496"/>
            <a:ext cx="1828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2825496"/>
            <a:ext cx="841248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277977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4670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Frying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3392424"/>
            <a:ext cx="1828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06040" y="3392424"/>
            <a:ext cx="566928" cy="20116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334670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9136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Thickness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959352"/>
            <a:ext cx="1828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3959352"/>
            <a:ext cx="31546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913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on Test Set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0" y="1645920"/>
            <a:ext cx="37490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645920"/>
            <a:ext cx="64008" cy="5943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170078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1682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30368" y="19751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fit — 91.2% variance explained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2359152"/>
            <a:ext cx="37490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2359152"/>
            <a:ext cx="64008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241401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55080" y="2395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1.42%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30368" y="268833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±2% manual defect count uncertainty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3072384"/>
            <a:ext cx="374904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3072384"/>
            <a:ext cx="64008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1272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5508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2.07%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30368" y="34015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MAE — occasional extremes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0" y="3785616"/>
            <a:ext cx="3749040" cy="59436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3785616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3840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55080" y="3822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0.898 ± 0.023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230368" y="41148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5 folds — robust model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690872"/>
            <a:ext cx="7955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 (GridSearchCV 5-fold):   n_estimators = 200   ·   max_depth = 20   ·   min_samples_split = 5   ·   max_features = sqrt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&amp; Statistical Validation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89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 for RF — exact SHAP values (game theory basis)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396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GradientExplainer for CNN — pixel-level saliency maps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5237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fryer_temperature shows widest SHAP value spread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Burnt chips: heatmap highlights darkened regions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91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charts: per-prediction feature breakdown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675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overlay available in Streamlit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02336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89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Results  (all p &lt; 0.001)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3840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7830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78308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26680" y="178308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121408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19456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Fryer Temperature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66560" y="21945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287.43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26680" y="219456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560320"/>
            <a:ext cx="3840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63347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Quality Index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263347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219.61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26680" y="26334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999232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0723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Content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66560" y="307238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143.28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26680" y="307238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438144"/>
            <a:ext cx="3840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5112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Frying Time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66560" y="351129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26680" y="3511296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877056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9502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Thickness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66560" y="395020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34.17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726680" y="395020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5488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parameters statistically significant · Consistent with RF feature importance rankings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Three Interactive Tabs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822960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64008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389888"/>
            <a:ext cx="384048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89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13898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01: Defect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709928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JPEG/PNG chip image upload   ·   MobileNetV2 inference → DEFECTIVE / NON-DEFECTIVE   ·   Confidence % with color-coded badge (green/amber/red)   ·   Optional SHAP pixel saliency heatmap overlay on image   ·   Session prediction log exportable as CSV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8229600" cy="109728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32888"/>
            <a:ext cx="64008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624328"/>
            <a:ext cx="384048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624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26243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02: Process Risk Predictor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2944368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interactive sliders (temp · frying time · moisture · thickness · oil TPM)   ·   Real-time RF prediction updates without page reload   ·   Plotly circular gauge vs industry thresholds   ·   SHAP waterfall chart for current parameter set   ·   Risk tiers: Low &lt; 5%  ·  Medium 5–12%  ·  High &gt; 12%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82296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67328"/>
            <a:ext cx="64008" cy="10972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858768"/>
            <a:ext cx="384048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858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38587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03: Multi-Plant Benchmarking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4178808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bar chart: avg defect rate across plants   ·   12-month weekly defect rate trend lines per facility   ·   Composite quality score ranking table (out of 100)   ·   Defect type heatmap per plant for targeted intervention   ·   Plant C: 91  ·  Plant A: 82  ·  Plant B: 54  (out of 100)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&amp; Financial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Comparison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459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24912" y="1645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87952" y="1645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50992" y="16459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22592" y="1645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COPQ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947672"/>
            <a:ext cx="8229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02996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24912" y="20299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78–82%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87952" y="20299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50–80/min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50992" y="20299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22592" y="20299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₹77.68L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386584"/>
            <a:ext cx="82296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6888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Vision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24912" y="246888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85–88%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87952" y="246888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200/min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50992" y="24688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22592" y="24688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₹55.40L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825496"/>
            <a:ext cx="8229600" cy="3931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25496"/>
            <a:ext cx="64008" cy="3931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9077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System (CNN + RF)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24912" y="29077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93.87%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87952" y="29077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1,200/min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50992" y="29077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22592" y="29077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₹32.41L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COPQ Savings per Plant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192024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657600"/>
            <a:ext cx="1920240" cy="640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67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₹18.67L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7200" y="4251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Disposal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42032" y="3657600"/>
            <a:ext cx="192024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42032" y="3657600"/>
            <a:ext cx="192024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3767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₹5.62L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542032" y="4251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Costs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26864" y="3657600"/>
            <a:ext cx="19202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26864" y="3657600"/>
            <a:ext cx="192024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3767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₹10.92L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626864" y="4251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Labor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11696" y="3657600"/>
            <a:ext cx="1920240" cy="91440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11696" y="3657600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11696" y="3767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₹4.88L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711696" y="4251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7000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Saving: ₹45.27 Lakhs / plant   ·   Estimated Payback Period: 2–3 months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09728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27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(MobileNetV2): 93.87% accuracy, 7.7% miss rate vs 15–20% manual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109728" cy="1097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0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Regressor: R²=0.912, MAE=1.42% — strong process prediction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33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confirms all 5 parameters significant (p&lt;0.001)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36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makes predictions interpretable to non-ML engineers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75888"/>
            <a:ext cx="109728" cy="1097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39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₹45.27L annual COPQ savings per plant, 2–3 month payback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78808"/>
            <a:ext cx="10972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42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reactive + proactive quality system in one dashboard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1664208"/>
            <a:ext cx="3931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664208"/>
            <a:ext cx="64008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7373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17373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30fps GPU inference on live conveyor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167128"/>
            <a:ext cx="3931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167128"/>
            <a:ext cx="64008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24028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24028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on NVIDIA Jetson / Raspberry Pi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670048"/>
            <a:ext cx="3931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670048"/>
            <a:ext cx="64008" cy="42062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74320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Sensor Data: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274320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PLC/SCADA pipeline for authentic fryer data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172968"/>
            <a:ext cx="3931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172968"/>
            <a:ext cx="64008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24612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CNN: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32461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Burnt · under-fried · broken · green · oil-patch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675888"/>
            <a:ext cx="3931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675888"/>
            <a:ext cx="64008" cy="4206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7490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Temporal: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37490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process history for better prediction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4178808"/>
            <a:ext cx="3931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4178808"/>
            <a:ext cx="64008" cy="42062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2519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42519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Cross-plant model training without raw data sharing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880360"/>
            <a:ext cx="51206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2880360"/>
            <a:ext cx="512064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9992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3291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github.com/priyanshu812/potato-chip-ai-quality-monitor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3657600"/>
            <a:ext cx="4572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37307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29  ·  Raj Mehta  ·  Priyanshu Soni  ·  Karthik Khandka  ·  Yuvraj Joshi  ·  Shreyas Singh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94560" y="400507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Sankar K  ·  Dept. of CSE (AI/ML)  ·  Jain (Deemed-to-be University)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Potato Chip Quality Monitoring</dc:title>
  <dc:subject>PptxGenJS Presentation</dc:subject>
  <dc:creator>PptxGenJS</dc:creator>
  <cp:lastModifiedBy>PptxGenJS</cp:lastModifiedBy>
  <cp:revision>1</cp:revision>
  <dcterms:created xsi:type="dcterms:W3CDTF">2026-05-02T09:08:29Z</dcterms:created>
  <dcterms:modified xsi:type="dcterms:W3CDTF">2026-05-02T09:08:29Z</dcterms:modified>
</cp:coreProperties>
</file>